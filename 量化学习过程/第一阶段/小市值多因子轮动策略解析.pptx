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2" r:id="rId7"/>
    <p:sldId id="275" r:id="rId8"/>
    <p:sldId id="276" r:id="rId9"/>
    <p:sldId id="263" r:id="rId10"/>
    <p:sldId id="277" r:id="rId11"/>
    <p:sldId id="264" r:id="rId12"/>
    <p:sldId id="278" r:id="rId13"/>
    <p:sldId id="265" r:id="rId14"/>
    <p:sldId id="266" r:id="rId15"/>
    <p:sldId id="267" r:id="rId16"/>
    <p:sldId id="268" r:id="rId17"/>
    <p:sldId id="270" r:id="rId18"/>
    <p:sldId id="274" r:id="rId19"/>
  </p:sldIdLst>
  <p:sldSz cx="12192000" cy="6858000"/>
  <p:notesSz cx="6858000" cy="12192000"/>
  <p:embeddedFontLst>
    <p:embeddedFont>
      <p:font typeface="MiSans" panose="02010600030101010101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3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49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BCF1B-B541-A104-3D20-5519E0E5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2C65A-37D9-55F7-2459-1A99E56DD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79846-9CB7-03BA-CD96-B7F73D9E3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32F5D-F151-2EB0-2E04-0D4033D50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79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52B3-2A4E-B4D8-5057-4FDEC99B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1300F-76EE-B2BE-C7E1-3A355614F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F4867-A018-F528-AB59-A7E8DDBF8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10DDD-D590-D1E8-F054-E51D2852C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26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BD20-E679-F1D8-5FCA-476C6C564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2B3D8-D82D-4C61-AF88-AE6421B8D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9AA4E-9765-AA37-CA68-B37F8B43C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100B6-B713-839A-9960-0AAD124E8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13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ED37B-C743-5E11-9C65-B1993C2B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877A9-C333-A323-EDB2-D6C42D94C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737AB-2FD9-E073-F61F-64FC39ADF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AF2FC-C155-3DFF-2188-7B16FCE6B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13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39:37-d2v5s2dnfo2stf9dk1c0.jpg"/>
          <p:cNvPicPr>
            <a:picLocks noChangeAspect="1"/>
          </p:cNvPicPr>
          <p:nvPr/>
        </p:nvPicPr>
        <p:blipFill>
          <a:blip r:embed="rId4"/>
          <a:srcRect l="11986" t="12744" r="11986" b="6298"/>
          <a:stretch/>
        </p:blipFill>
        <p:spPr>
          <a:xfrm>
            <a:off x="0" y="-20320"/>
            <a:ext cx="12192000" cy="6898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20645" y="1739900"/>
            <a:ext cx="7174230" cy="2110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5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小市值多因子轮动策略解析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39:36-d2v5s25nfo2stf9dk1bg.jpg"/>
          <p:cNvPicPr>
            <a:picLocks noChangeAspect="1"/>
          </p:cNvPicPr>
          <p:nvPr/>
        </p:nvPicPr>
        <p:blipFill>
          <a:blip r:embed="rId4"/>
          <a:srcRect l="7" t="12491" r="11357" b="2019"/>
          <a:stretch/>
        </p:blipFill>
        <p:spPr>
          <a:xfrm flipH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898" y="2306319"/>
            <a:ext cx="1751965" cy="835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5400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9790" y="1998980"/>
            <a:ext cx="1130935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39:31-d2v5s0tnfo2stf9dk18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836930"/>
            <a:ext cx="457200" cy="243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70914" y="728660"/>
            <a:ext cx="1041400" cy="832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318597" y="1609936"/>
            <a:ext cx="2360126" cy="4621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策略全景速览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260460" y="728660"/>
            <a:ext cx="1418033" cy="832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975851" y="1642704"/>
            <a:ext cx="2360126" cy="4621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OPT量价逻辑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666865" y="2537460"/>
            <a:ext cx="1751965" cy="832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347823" y="3418501"/>
            <a:ext cx="2360126" cy="4621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MFI资金温度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260330" y="2537460"/>
            <a:ext cx="1668145" cy="832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975851" y="3408554"/>
            <a:ext cx="2360126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回测</a:t>
            </a:r>
            <a:endParaRPr lang="en-US" sz="2400" b="1" dirty="0">
              <a:solidFill>
                <a:srgbClr val="40404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675755" y="4427220"/>
            <a:ext cx="1752600" cy="832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385272" y="5235062"/>
            <a:ext cx="2360126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总结和修改</a:t>
            </a:r>
            <a:endParaRPr lang="en-US" sz="2400" b="1" dirty="0">
              <a:solidFill>
                <a:srgbClr val="40404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39:34-d2v5s1lnfo2stf9dk1b0.jpg"/>
          <p:cNvPicPr>
            <a:picLocks noChangeAspect="1"/>
          </p:cNvPicPr>
          <p:nvPr/>
        </p:nvPicPr>
        <p:blipFill>
          <a:blip r:embed="rId4"/>
          <a:srcRect l="1013" r="1013"/>
          <a:stretch/>
        </p:blipFill>
        <p:spPr>
          <a:xfrm>
            <a:off x="0" y="-20320"/>
            <a:ext cx="12192000" cy="6898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338" y="1683385"/>
            <a:ext cx="1541780" cy="1476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727575" y="3160395"/>
            <a:ext cx="4599305" cy="1806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策略全景速览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39:32-d2v5s15nfo2stf9dk1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3480" y="427990"/>
            <a:ext cx="8478520" cy="1151890"/>
          </a:xfrm>
          <a:prstGeom prst="rect">
            <a:avLst/>
          </a:prstGeom>
          <a:solidFill>
            <a:srgbClr val="538BC1">
              <a:alpha val="16863"/>
            </a:srgbClr>
          </a:solidFill>
          <a:ln/>
        </p:spPr>
      </p:sp>
      <p:pic>
        <p:nvPicPr>
          <p:cNvPr id="3" name="Image 0" descr="https://kimi-img.moonshot.cn/pub/slides/slides_tmpl/image/25-09-08-12:40:25-d2v5sednfo2stf9dk1ig.jpeg"/>
          <p:cNvPicPr>
            <a:picLocks noChangeAspect="1"/>
          </p:cNvPicPr>
          <p:nvPr/>
        </p:nvPicPr>
        <p:blipFill>
          <a:blip r:embed="rId4"/>
          <a:srcRect l="12000" t="1037" r="51907" b="-1037"/>
          <a:stretch/>
        </p:blipFill>
        <p:spPr>
          <a:xfrm>
            <a:off x="0" y="12065"/>
            <a:ext cx="371348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1650" y="427355"/>
            <a:ext cx="6387465" cy="1073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小市值多因子轮动策略框架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311650" y="1563360"/>
            <a:ext cx="6824019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策略定位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11650" y="2025243"/>
            <a:ext cx="7398385" cy="6463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策略聚焦</a:t>
            </a:r>
            <a:r>
              <a:rPr lang="en-US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A股后30%小市值</a:t>
            </a:r>
            <a:r>
              <a:rPr 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，用日线交易+周线过滤的双周期节奏，季度换池剔除ST，目标在控制回撤≤8%的前提下，获取15%以上年化超额。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33019" y="2746284"/>
            <a:ext cx="6824019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en-US" sz="2400" b="1" dirty="0" err="1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三因子矩阵</a:t>
            </a:r>
            <a:endParaRPr lang="en-US" sz="2400" b="1" dirty="0">
              <a:solidFill>
                <a:srgbClr val="538BC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333020" y="3198829"/>
            <a:ext cx="7398385" cy="6463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技术面</a:t>
            </a:r>
            <a:r>
              <a:rPr lang="en-US" dirty="0" err="1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</a:t>
            </a:r>
            <a:r>
              <a:rPr lang="en-US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监控量价背离，资金面</a:t>
            </a:r>
            <a:r>
              <a:rPr lang="en-US" dirty="0" err="1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MFI</a:t>
            </a:r>
            <a:r>
              <a:rPr lang="en-US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捕捉冷热拐点，</a:t>
            </a:r>
            <a:r>
              <a:rPr lang="en-US" dirty="0" err="1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基本面</a:t>
            </a:r>
            <a:r>
              <a:rPr lang="en-US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，三因子同时满足才触发交易</a:t>
            </a:r>
            <a:endParaRPr lang="en-US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33020" y="4046203"/>
            <a:ext cx="6824019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 err="1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资金与仓位</a:t>
            </a:r>
            <a:endParaRPr lang="en-US" sz="2400" b="1" dirty="0">
              <a:solidFill>
                <a:srgbClr val="538BC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60545" y="4518660"/>
            <a:ext cx="7398385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40万</a:t>
            </a:r>
            <a:r>
              <a:rPr 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本金上限，</a:t>
            </a:r>
            <a:r>
              <a:rPr lang="en-US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单票仓位≤10%</a:t>
            </a:r>
            <a:r>
              <a:rPr 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持股数≤10只</a:t>
            </a:r>
            <a:endParaRPr lang="en-US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60545" y="5063807"/>
            <a:ext cx="6824019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 err="1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买卖硬规则</a:t>
            </a:r>
            <a:endParaRPr lang="en-US" sz="2400" b="1" dirty="0">
              <a:solidFill>
                <a:srgbClr val="538BC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60545" y="5561492"/>
            <a:ext cx="7398385" cy="6463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买入：周线趋势向上+日线OPT金叉+MFI底部回升+基本面绿灯</a:t>
            </a:r>
            <a:r>
              <a:rPr 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；</a:t>
            </a:r>
          </a:p>
          <a:p>
            <a:pPr algn="just">
              <a:lnSpc>
                <a:spcPct val="100000"/>
              </a:lnSpc>
            </a:pPr>
            <a:r>
              <a:rPr lang="en-US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卖出：日线OPT死叉或MFI</a:t>
            </a:r>
            <a:r>
              <a:rPr 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&gt;80回落或个股-3%熔断，先满足先执行。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39:34-d2v5s1lnfo2stf9dk1b0.jpg"/>
          <p:cNvPicPr>
            <a:picLocks noChangeAspect="1"/>
          </p:cNvPicPr>
          <p:nvPr/>
        </p:nvPicPr>
        <p:blipFill>
          <a:blip r:embed="rId4"/>
          <a:srcRect l="1013" r="1013"/>
          <a:stretch/>
        </p:blipFill>
        <p:spPr>
          <a:xfrm>
            <a:off x="0" y="-20320"/>
            <a:ext cx="12192000" cy="6898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338" y="1683385"/>
            <a:ext cx="1541780" cy="1476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727575" y="3160395"/>
            <a:ext cx="4599305" cy="1806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</a:t>
            </a:r>
            <a:r>
              <a:rPr lang="zh-CN" altLang="zh-CN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量价趋势</a:t>
            </a:r>
            <a:endParaRPr lang="en-US" sz="4000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5" name="Image 1" descr="https://kimi-img.moonshot.cn/pub/slides/slides_tmpl/image/25-09-08-12:39:32-d2v5s15nfo2stf9dk1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185943"/>
            <a:ext cx="5875655" cy="9417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 (</a:t>
            </a:r>
            <a:r>
              <a:rPr lang="zh-CN" altLang="zh-CN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量价趋势</a:t>
            </a:r>
            <a:r>
              <a:rPr lang="en-US" altLang="zh-CN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endParaRPr lang="en-US" sz="3200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1B57182-823E-E34E-9F13-DF6639439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472" y="2510794"/>
            <a:ext cx="10017055" cy="179598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5EE75-1458-90DC-B4BB-CDDDC07EA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FBAFB8-6870-4404-0CBD-9B6FEC53BFE6}"/>
              </a:ext>
            </a:extLst>
          </p:cNvPr>
          <p:cNvSpPr/>
          <p:nvPr/>
        </p:nvSpPr>
        <p:spPr>
          <a:xfrm>
            <a:off x="523875" y="185943"/>
            <a:ext cx="5875655" cy="9417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 (</a:t>
            </a:r>
            <a:r>
              <a:rPr lang="zh-CN" altLang="zh-CN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量价趋势</a:t>
            </a:r>
            <a:r>
              <a:rPr lang="en-US" altLang="zh-CN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endParaRPr lang="en-US" sz="3200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F2A20D7-0FDE-7877-54DA-E8B50F50F922}"/>
              </a:ext>
            </a:extLst>
          </p:cNvPr>
          <p:cNvSpPr/>
          <p:nvPr/>
        </p:nvSpPr>
        <p:spPr>
          <a:xfrm>
            <a:off x="0" y="3379816"/>
            <a:ext cx="4610735" cy="4013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象限一：强力进攻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E3217AC-0B13-83DB-A8FC-AC6A62A02747}"/>
              </a:ext>
            </a:extLst>
          </p:cNvPr>
          <p:cNvSpPr/>
          <p:nvPr/>
        </p:nvSpPr>
        <p:spPr>
          <a:xfrm>
            <a:off x="-694860" y="3773581"/>
            <a:ext cx="6474163" cy="13234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OPT&gt;0且斜率向上，</a:t>
            </a:r>
          </a:p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资金持续流入，量价齐升，为趋势加速段</a:t>
            </a: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；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此时回踩5日/20日均线可加仓，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止损位设前低-3%</a:t>
            </a:r>
            <a:endParaRPr 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4E6ACC-65CE-D99F-50B3-9074FF2D1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303" y="257477"/>
            <a:ext cx="5103058" cy="634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6835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F99B0-F665-0AD8-33E1-59C1068E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41E451-03FF-63CD-B5E4-9816FA2F1534}"/>
              </a:ext>
            </a:extLst>
          </p:cNvPr>
          <p:cNvSpPr/>
          <p:nvPr/>
        </p:nvSpPr>
        <p:spPr>
          <a:xfrm>
            <a:off x="523875" y="185943"/>
            <a:ext cx="5875655" cy="9417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 (</a:t>
            </a:r>
            <a:r>
              <a:rPr lang="zh-CN" altLang="zh-CN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量价趋势</a:t>
            </a:r>
            <a:r>
              <a:rPr lang="en-US" altLang="zh-CN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endParaRPr lang="en-US" sz="3200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0B5F727-71DD-EF8C-AD04-5F4BAAE01EF0}"/>
              </a:ext>
            </a:extLst>
          </p:cNvPr>
          <p:cNvSpPr/>
          <p:nvPr/>
        </p:nvSpPr>
        <p:spPr>
          <a:xfrm>
            <a:off x="253259" y="2781300"/>
            <a:ext cx="4610735" cy="4013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象限四：无底洞区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47B4798-74E9-1C70-CD7E-3C5B9F999909}"/>
              </a:ext>
            </a:extLst>
          </p:cNvPr>
          <p:cNvSpPr/>
          <p:nvPr/>
        </p:nvSpPr>
        <p:spPr>
          <a:xfrm>
            <a:off x="127847" y="3200039"/>
            <a:ext cx="4861560" cy="13234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OPT&lt;0且斜率向下</a:t>
            </a:r>
          </a:p>
          <a:p>
            <a:pPr algn="ctr"/>
            <a:r>
              <a:rPr lang="en-US" sz="20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资金惯性流出，阴跌未完</a:t>
            </a: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；</a:t>
            </a:r>
          </a:p>
          <a:p>
            <a:pPr algn="ctr"/>
            <a:r>
              <a:rPr lang="en-US" sz="20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规则直接拉黑，杜绝抄底博反弹，等待OPT底部金叉+成交量异动再评估</a:t>
            </a: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20665A-138E-E2D4-9BD4-A2D94BEF9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407" y="112198"/>
            <a:ext cx="5763260" cy="661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155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39:34-d2v5s1lnfo2stf9dk1b0.jpg"/>
          <p:cNvPicPr>
            <a:picLocks noChangeAspect="1"/>
          </p:cNvPicPr>
          <p:nvPr/>
        </p:nvPicPr>
        <p:blipFill>
          <a:blip r:embed="rId4"/>
          <a:srcRect l="1013" r="1013"/>
          <a:stretch/>
        </p:blipFill>
        <p:spPr>
          <a:xfrm>
            <a:off x="0" y="-20320"/>
            <a:ext cx="12192000" cy="6898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338" y="1683385"/>
            <a:ext cx="1541780" cy="1476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727575" y="3160395"/>
            <a:ext cx="4599305" cy="1806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MFI资金温度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39:32-d2v5s15nfo2stf9dk1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DF440-D77F-94BD-85A1-46BE7F1FD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6E32D5-2CFE-CF1B-C734-F32821D7D4D1}"/>
              </a:ext>
            </a:extLst>
          </p:cNvPr>
          <p:cNvSpPr/>
          <p:nvPr/>
        </p:nvSpPr>
        <p:spPr>
          <a:xfrm>
            <a:off x="628650" y="442595"/>
            <a:ext cx="11036300" cy="1077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MFI</a:t>
            </a:r>
            <a:endParaRPr lang="en-US" sz="16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73B27F8-4773-CA5D-8D7A-38E17F2D8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371" y="861060"/>
            <a:ext cx="7542857" cy="5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0097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442595"/>
            <a:ext cx="11036300" cy="1077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MFI四态模型：冷热资金攻防</a:t>
            </a:r>
            <a:endParaRPr lang="en-US" sz="1600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D66516F-6A4B-C841-8838-51178C988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972620"/>
              </p:ext>
            </p:extLst>
          </p:nvPr>
        </p:nvGraphicFramePr>
        <p:xfrm>
          <a:off x="215898" y="1439333"/>
          <a:ext cx="11347452" cy="5195945"/>
        </p:xfrm>
        <a:graphic>
          <a:graphicData uri="http://schemas.openxmlformats.org/drawingml/2006/table">
            <a:tbl>
              <a:tblPr firstRow="1" firstCol="1" bandRow="1">
                <a:tableStyleId>{D27102A9-8310-4765-A935-A1911B00CA55}</a:tableStyleId>
              </a:tblPr>
              <a:tblGrid>
                <a:gridCol w="2836863">
                  <a:extLst>
                    <a:ext uri="{9D8B030D-6E8A-4147-A177-3AD203B41FA5}">
                      <a16:colId xmlns:a16="http://schemas.microsoft.com/office/drawing/2014/main" val="698297125"/>
                    </a:ext>
                  </a:extLst>
                </a:gridCol>
                <a:gridCol w="2836863">
                  <a:extLst>
                    <a:ext uri="{9D8B030D-6E8A-4147-A177-3AD203B41FA5}">
                      <a16:colId xmlns:a16="http://schemas.microsoft.com/office/drawing/2014/main" val="1554466776"/>
                    </a:ext>
                  </a:extLst>
                </a:gridCol>
                <a:gridCol w="2836863">
                  <a:extLst>
                    <a:ext uri="{9D8B030D-6E8A-4147-A177-3AD203B41FA5}">
                      <a16:colId xmlns:a16="http://schemas.microsoft.com/office/drawing/2014/main" val="746019058"/>
                    </a:ext>
                  </a:extLst>
                </a:gridCol>
                <a:gridCol w="2836863">
                  <a:extLst>
                    <a:ext uri="{9D8B030D-6E8A-4147-A177-3AD203B41FA5}">
                      <a16:colId xmlns:a16="http://schemas.microsoft.com/office/drawing/2014/main" val="180799116"/>
                    </a:ext>
                  </a:extLst>
                </a:gridCol>
              </a:tblGrid>
              <a:tr h="44357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状态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区间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&amp; 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趋势</a:t>
                      </a:r>
                      <a:endParaRPr lang="zh-CN" sz="24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一句话说明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对应动作</a:t>
                      </a:r>
                      <a:endParaRPr lang="zh-CN" sz="24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8347807"/>
                  </a:ext>
                </a:extLst>
              </a:tr>
              <a:tr h="118809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高位警示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 80 </a:t>
                      </a: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且开始下降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市场已经热过头了，大户在趁乱套现，这是撤退信号。</a:t>
                      </a:r>
                      <a:r>
                        <a:rPr lang="en-US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清仓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减仓</a:t>
                      </a:r>
                      <a:endParaRPr lang="zh-CN" sz="24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3004366"/>
                  </a:ext>
                </a:extLst>
              </a:tr>
              <a:tr h="118809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极度狂热</a:t>
                      </a:r>
                      <a:r>
                        <a:rPr lang="zh-CN" alt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（超买）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 80 </a:t>
                      </a: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且持续上升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虽然在疯涨，但属于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‘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高风险区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’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，随时可能崩盘。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</a:t>
                      </a:r>
                      <a:endParaRPr lang="zh-CN" sz="24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紧盯止损</a:t>
                      </a:r>
                      <a:endParaRPr lang="zh-CN" sz="24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750416"/>
                  </a:ext>
                </a:extLst>
              </a:tr>
              <a:tr h="118809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底部捡漏</a:t>
                      </a:r>
                      <a:endParaRPr lang="zh-CN" sz="24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 20 </a:t>
                      </a: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且开始上升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大家都在割肉，但聪明钱已经进场扫货了，这是抄底机会。</a:t>
                      </a:r>
                      <a:r>
                        <a:rPr lang="en-US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进场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关注</a:t>
                      </a:r>
                      <a:endParaRPr lang="zh-CN" sz="24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6831147"/>
                  </a:ext>
                </a:extLst>
              </a:tr>
              <a:tr h="118809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低位冰点</a:t>
                      </a:r>
                      <a:r>
                        <a:rPr lang="zh-CN" altLang="en-US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（超卖）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 20 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且持续下降</a:t>
                      </a:r>
                      <a:endParaRPr lang="zh-CN" sz="24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还没跌透，里面一分钱都没有，千万别去碰。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</a:t>
                      </a:r>
                      <a:endParaRPr lang="zh-CN" sz="24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坚决观望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93898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F7BF0-10CA-84C1-58F7-86562CA3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C1DF52-8B03-ED0A-A3CD-3F526190A233}"/>
              </a:ext>
            </a:extLst>
          </p:cNvPr>
          <p:cNvSpPr/>
          <p:nvPr/>
        </p:nvSpPr>
        <p:spPr>
          <a:xfrm>
            <a:off x="628650" y="442595"/>
            <a:ext cx="11036300" cy="1077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MFI</a:t>
            </a:r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89E478-20A5-BA2E-98C4-46DE6411F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667" y="160867"/>
            <a:ext cx="5532458" cy="864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7456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39:34-d2v5s1lnfo2stf9dk1b0.jpg"/>
          <p:cNvPicPr>
            <a:picLocks noChangeAspect="1"/>
          </p:cNvPicPr>
          <p:nvPr/>
        </p:nvPicPr>
        <p:blipFill>
          <a:blip r:embed="rId4"/>
          <a:srcRect l="1013" r="1013"/>
          <a:stretch/>
        </p:blipFill>
        <p:spPr>
          <a:xfrm>
            <a:off x="0" y="-20320"/>
            <a:ext cx="12192000" cy="6898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338" y="1683385"/>
            <a:ext cx="1541780" cy="1476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727575" y="3160395"/>
            <a:ext cx="4599305" cy="1806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回测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39:32-d2v5s15nfo2stf9dk1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39:36-d2v5s25nfo2stf9dk1bg.jpg"/>
          <p:cNvPicPr>
            <a:picLocks noChangeAspect="1"/>
          </p:cNvPicPr>
          <p:nvPr/>
        </p:nvPicPr>
        <p:blipFill>
          <a:blip r:embed="rId4"/>
          <a:srcRect l="2236" t="16107" r="17528" b="8038"/>
          <a:stretch/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39:31-d2v5s0tnfo2stf9dk190.png"/>
          <p:cNvPicPr>
            <a:picLocks noChangeAspect="1"/>
          </p:cNvPicPr>
          <p:nvPr/>
        </p:nvPicPr>
        <p:blipFill>
          <a:blip r:embed="rId5">
            <a:alphaModFix amt="15000"/>
          </a:blip>
          <a:srcRect t="32098" b="32098"/>
          <a:stretch/>
        </p:blipFill>
        <p:spPr>
          <a:xfrm>
            <a:off x="136339" y="147531"/>
            <a:ext cx="10598310" cy="135297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21031" y="425237"/>
            <a:ext cx="6898640" cy="890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32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回测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457351" y="431375"/>
            <a:ext cx="8914316" cy="12954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2020–2025总收益119.4%，年化15.7%，同期中证1000仅5.3%；最大回撤-8.0%，出现在2022年4月；胜率51%、盈亏比1.35，证明策略靠“大赚小赔”赚钱，而非高频正确。</a:t>
            </a:r>
            <a:endParaRPr lang="en-US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1CB8D09-B603-50E9-9A70-EB137CC2A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39" y="1442193"/>
            <a:ext cx="10785610" cy="487910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5CEE8B8-3EE4-4A7C-3423-791A4D5F73AB}"/>
              </a:ext>
            </a:extLst>
          </p:cNvPr>
          <p:cNvSpPr txBox="1"/>
          <p:nvPr/>
        </p:nvSpPr>
        <p:spPr>
          <a:xfrm>
            <a:off x="5054601" y="6360687"/>
            <a:ext cx="492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账户资金变化图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39:34-d2v5s1lnfo2stf9dk1b0.jpg"/>
          <p:cNvPicPr>
            <a:picLocks noChangeAspect="1"/>
          </p:cNvPicPr>
          <p:nvPr/>
        </p:nvPicPr>
        <p:blipFill>
          <a:blip r:embed="rId4"/>
          <a:srcRect l="1013" r="1013"/>
          <a:stretch/>
        </p:blipFill>
        <p:spPr>
          <a:xfrm>
            <a:off x="0" y="-20320"/>
            <a:ext cx="12192000" cy="6898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338" y="1683385"/>
            <a:ext cx="1541780" cy="1476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727575" y="3160395"/>
            <a:ext cx="4599305" cy="1806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总结和修改</a:t>
            </a:r>
            <a:endParaRPr lang="en-US" sz="4000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5" name="Image 1" descr="https://kimi-img.moonshot.cn/pub/slides/slides_tmpl/image/25-09-08-12:39:32-d2v5s15nfo2stf9dk1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315" y="-97352"/>
            <a:ext cx="5289550" cy="12814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32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持仓天数盈亏分布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15315" y="893621"/>
            <a:ext cx="5053997" cy="52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1–2天短打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15463" y="1378781"/>
            <a:ext cx="5289402" cy="10156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共1107笔，平均盈利1589元，亏损1301元，盈亏比1.22，但手续费侵蚀18%净利，属于必要损耗。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15463" y="2372415"/>
            <a:ext cx="5480685" cy="52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3–9天波段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2028" y="2826043"/>
            <a:ext cx="5481639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499笔贡献46%总利润，平均盈利2358元，亏损1519元，盈亏比1.55，是策略核心利润段。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77944" y="3589599"/>
            <a:ext cx="5480685" cy="52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10天以上长持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14509" y="4054657"/>
            <a:ext cx="5481639" cy="10156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仅14笔，胜率57%，平均盈利2108元，数量过少，说明小市值趋势持续性有限，不宜过度恋战。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7796" y="5307974"/>
            <a:ext cx="5480685" cy="52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538B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4361" y="5780652"/>
            <a:ext cx="5481639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把短打压缩、波段放大，是提升净值的唯一路径，由此引出周线过滤升级方案。</a:t>
            </a:r>
            <a:endParaRPr lang="en-US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2E2A61F-102E-F494-EA19-164DCD4EA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481" y="818074"/>
            <a:ext cx="6031225" cy="522185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875" y="703580"/>
            <a:ext cx="4934585" cy="1537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周线过滤：让信号慢下来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0260" y="2549192"/>
            <a:ext cx="10721340" cy="1200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zh-CN" altLang="zh-CN" sz="2400" dirty="0"/>
              <a:t>“为了解决</a:t>
            </a:r>
            <a:r>
              <a:rPr lang="zh-CN" altLang="zh-CN" sz="2400" dirty="0">
                <a:solidFill>
                  <a:srgbClr val="FF0000"/>
                </a:solidFill>
              </a:rPr>
              <a:t>日线级别信号过于灵敏</a:t>
            </a:r>
            <a:r>
              <a:rPr lang="zh-CN" altLang="zh-CN" sz="2400" dirty="0"/>
              <a:t>导致的入场迟滞与频繁‘被动离场’问题，通过将策略</a:t>
            </a:r>
            <a:r>
              <a:rPr lang="zh-CN" altLang="zh-CN" sz="2400" dirty="0">
                <a:solidFill>
                  <a:srgbClr val="FF0000"/>
                </a:solidFill>
              </a:rPr>
              <a:t>上移至周线周期</a:t>
            </a:r>
            <a:r>
              <a:rPr lang="zh-CN" altLang="zh-CN" sz="2400" dirty="0"/>
              <a:t>，旨在过滤高频市场杂音，在牺牲部分交易频率的前提下，大幅削减短期试错成本，从而追求更具确定性的波段利润。”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41:01-d2v5sndnfo2stf9dk1o0.jpg"/>
          <p:cNvPicPr>
            <a:picLocks noChangeAspect="1"/>
          </p:cNvPicPr>
          <p:nvPr/>
        </p:nvPicPr>
        <p:blipFill>
          <a:blip r:embed="rId4"/>
          <a:srcRect l="69" r="69"/>
          <a:stretch/>
        </p:blipFill>
        <p:spPr>
          <a:xfrm>
            <a:off x="0" y="-20320"/>
            <a:ext cx="12192000" cy="6878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9070" y="1116330"/>
            <a:ext cx="3345180" cy="33280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8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883755" y="81550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0083780" y="81550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0283805" y="81550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0483830" y="81550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520180" y="1245870"/>
            <a:ext cx="4294505" cy="2693940"/>
          </a:xfrm>
          <a:prstGeom prst="rect">
            <a:avLst/>
          </a:prstGeom>
          <a:noFill/>
          <a:ln/>
        </p:spPr>
        <p:txBody>
          <a:bodyPr wrap="square" lIns="99695" tIns="49784" rIns="99695" bIns="49784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感谢大家观看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528</Words>
  <Application>Microsoft Office PowerPoint</Application>
  <PresentationFormat>宽屏</PresentationFormat>
  <Paragraphs>103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Arial</vt:lpstr>
      <vt:lpstr>宋体</vt:lpstr>
      <vt:lpstr>MiSans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小市值多因子轮动策略解析</dc:title>
  <dc:subject>小市值多因子轮动策略解析</dc:subject>
  <dc:creator>Kimi</dc:creator>
  <cp:lastModifiedBy>卓钊 李</cp:lastModifiedBy>
  <cp:revision>14</cp:revision>
  <dcterms:created xsi:type="dcterms:W3CDTF">2026-01-27T06:22:07Z</dcterms:created>
  <dcterms:modified xsi:type="dcterms:W3CDTF">2026-01-27T06:51:58Z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小市值多因子轮动策略解析","ContentProducer":"001191110108MACG2KBH8F10000","ProduceID":"19bfe1c1-3112-8ed1-8000-000069962a6b","ReservedCode1":"","ContentPropagator":"001191110108MACG2KBH8F20000","PropagateID":"19bfe1c1-3112-8ed1-8000-000069962a6b","ReservedCode2":""}</vt:lpwstr>
  </property>
</Properties>
</file>